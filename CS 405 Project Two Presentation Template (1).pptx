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
      <p:font typeface="Noto Sans" panose="020B0502040504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0A0824-3977-C25E-AEC2-F09DBCBB0B4D}" v="589" dt="2026-10-19T03:05:03.946"/>
    <p1510:client id="{D3D6D3AC-7F56-E0B2-6B61-4E9115E63099}" v="4193" dt="2026-10-18T05:59:48.119"/>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3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llis, Jordan" userId="S::jordan.hollis@snhu.edu::42ee41f3-3ff2-4344-9655-130bf9a948bc" providerId="AD" clId="Web-{D3D6D3AC-7F56-E0B2-6B61-4E9115E63099}"/>
    <pc:docChg chg="modSld">
      <pc:chgData name="Hollis, Jordan" userId="S::jordan.hollis@snhu.edu::42ee41f3-3ff2-4344-9655-130bf9a948bc" providerId="AD" clId="Web-{D3D6D3AC-7F56-E0B2-6B61-4E9115E63099}" dt="2026-10-18T05:59:48.119" v="4199" actId="20577"/>
      <pc:docMkLst>
        <pc:docMk/>
      </pc:docMkLst>
      <pc:sldChg chg="modSp">
        <pc:chgData name="Hollis, Jordan" userId="S::jordan.hollis@snhu.edu::42ee41f3-3ff2-4344-9655-130bf9a948bc" providerId="AD" clId="Web-{D3D6D3AC-7F56-E0B2-6B61-4E9115E63099}" dt="2026-10-18T04:08:10.549" v="98" actId="20577"/>
        <pc:sldMkLst>
          <pc:docMk/>
          <pc:sldMk cId="0" sldId="256"/>
        </pc:sldMkLst>
        <pc:spChg chg="mod">
          <ac:chgData name="Hollis, Jordan" userId="S::jordan.hollis@snhu.edu::42ee41f3-3ff2-4344-9655-130bf9a948bc" providerId="AD" clId="Web-{D3D6D3AC-7F56-E0B2-6B61-4E9115E63099}" dt="2026-10-18T04:08:10.549" v="98" actId="20577"/>
          <ac:spMkLst>
            <pc:docMk/>
            <pc:sldMk cId="0" sldId="256"/>
            <ac:spMk id="145" creationId="{00000000-0000-0000-0000-000000000000}"/>
          </ac:spMkLst>
        </pc:spChg>
      </pc:sldChg>
      <pc:sldChg chg="addSp delSp modSp">
        <pc:chgData name="Hollis, Jordan" userId="S::jordan.hollis@snhu.edu::42ee41f3-3ff2-4344-9655-130bf9a948bc" providerId="AD" clId="Web-{D3D6D3AC-7F56-E0B2-6B61-4E9115E63099}" dt="2026-10-18T04:16:17.399" v="356" actId="20577"/>
        <pc:sldMkLst>
          <pc:docMk/>
          <pc:sldMk cId="0" sldId="257"/>
        </pc:sldMkLst>
        <pc:spChg chg="add mod">
          <ac:chgData name="Hollis, Jordan" userId="S::jordan.hollis@snhu.edu::42ee41f3-3ff2-4344-9655-130bf9a948bc" providerId="AD" clId="Web-{D3D6D3AC-7F56-E0B2-6B61-4E9115E63099}" dt="2026-10-18T04:16:17.399" v="356" actId="20577"/>
          <ac:spMkLst>
            <pc:docMk/>
            <pc:sldMk cId="0" sldId="257"/>
            <ac:spMk id="3" creationId="{F77C03DE-E393-A877-534D-8581E9C04311}"/>
          </ac:spMkLst>
        </pc:spChg>
        <pc:spChg chg="mod">
          <ac:chgData name="Hollis, Jordan" userId="S::jordan.hollis@snhu.edu::42ee41f3-3ff2-4344-9655-130bf9a948bc" providerId="AD" clId="Web-{D3D6D3AC-7F56-E0B2-6B61-4E9115E63099}" dt="2026-10-18T04:14:19.179" v="262" actId="1076"/>
          <ac:spMkLst>
            <pc:docMk/>
            <pc:sldMk cId="0" sldId="257"/>
            <ac:spMk id="151" creationId="{00000000-0000-0000-0000-000000000000}"/>
          </ac:spMkLst>
        </pc:spChg>
        <pc:spChg chg="del mod">
          <ac:chgData name="Hollis, Jordan" userId="S::jordan.hollis@snhu.edu::42ee41f3-3ff2-4344-9655-130bf9a948bc" providerId="AD" clId="Web-{D3D6D3AC-7F56-E0B2-6B61-4E9115E63099}" dt="2026-10-18T04:08:35.612" v="136"/>
          <ac:spMkLst>
            <pc:docMk/>
            <pc:sldMk cId="0" sldId="257"/>
            <ac:spMk id="152" creationId="{00000000-0000-0000-0000-000000000000}"/>
          </ac:spMkLst>
        </pc:spChg>
        <pc:picChg chg="mod">
          <ac:chgData name="Hollis, Jordan" userId="S::jordan.hollis@snhu.edu::42ee41f3-3ff2-4344-9655-130bf9a948bc" providerId="AD" clId="Web-{D3D6D3AC-7F56-E0B2-6B61-4E9115E63099}" dt="2026-10-18T04:13:20.913" v="244" actId="14100"/>
          <ac:picMkLst>
            <pc:docMk/>
            <pc:sldMk cId="0" sldId="257"/>
            <ac:picMk id="153" creationId="{00000000-0000-0000-0000-000000000000}"/>
          </ac:picMkLst>
        </pc:picChg>
      </pc:sldChg>
      <pc:sldChg chg="modSp">
        <pc:chgData name="Hollis, Jordan" userId="S::jordan.hollis@snhu.edu::42ee41f3-3ff2-4344-9655-130bf9a948bc" providerId="AD" clId="Web-{D3D6D3AC-7F56-E0B2-6B61-4E9115E63099}" dt="2026-10-18T04:21:20.388" v="654"/>
        <pc:sldMkLst>
          <pc:docMk/>
          <pc:sldMk cId="0" sldId="258"/>
        </pc:sldMkLst>
        <pc:spChg chg="mod">
          <ac:chgData name="Hollis, Jordan" userId="S::jordan.hollis@snhu.edu::42ee41f3-3ff2-4344-9655-130bf9a948bc" providerId="AD" clId="Web-{D3D6D3AC-7F56-E0B2-6B61-4E9115E63099}" dt="2026-10-18T04:17:54.854" v="408" actId="20577"/>
          <ac:spMkLst>
            <pc:docMk/>
            <pc:sldMk cId="0" sldId="258"/>
            <ac:spMk id="160" creationId="{00000000-0000-0000-0000-000000000000}"/>
          </ac:spMkLst>
        </pc:spChg>
        <pc:graphicFrameChg chg="mod modGraphic">
          <ac:chgData name="Hollis, Jordan" userId="S::jordan.hollis@snhu.edu::42ee41f3-3ff2-4344-9655-130bf9a948bc" providerId="AD" clId="Web-{D3D6D3AC-7F56-E0B2-6B61-4E9115E63099}" dt="2026-10-18T04:21:20.388" v="654"/>
          <ac:graphicFrameMkLst>
            <pc:docMk/>
            <pc:sldMk cId="0" sldId="258"/>
            <ac:graphicFrameMk id="161" creationId="{00000000-0000-0000-0000-000000000000}"/>
          </ac:graphicFrameMkLst>
        </pc:graphicFrameChg>
      </pc:sldChg>
      <pc:sldChg chg="modSp">
        <pc:chgData name="Hollis, Jordan" userId="S::jordan.hollis@snhu.edu::42ee41f3-3ff2-4344-9655-130bf9a948bc" providerId="AD" clId="Web-{D3D6D3AC-7F56-E0B2-6B61-4E9115E63099}" dt="2026-10-18T04:28:05.349" v="892" actId="20577"/>
        <pc:sldMkLst>
          <pc:docMk/>
          <pc:sldMk cId="0" sldId="259"/>
        </pc:sldMkLst>
        <pc:spChg chg="mod">
          <ac:chgData name="Hollis, Jordan" userId="S::jordan.hollis@snhu.edu::42ee41f3-3ff2-4344-9655-130bf9a948bc" providerId="AD" clId="Web-{D3D6D3AC-7F56-E0B2-6B61-4E9115E63099}" dt="2026-10-18T04:28:05.349" v="892" actId="20577"/>
          <ac:spMkLst>
            <pc:docMk/>
            <pc:sldMk cId="0" sldId="259"/>
            <ac:spMk id="168" creationId="{00000000-0000-0000-0000-000000000000}"/>
          </ac:spMkLst>
        </pc:spChg>
      </pc:sldChg>
      <pc:sldChg chg="modSp">
        <pc:chgData name="Hollis, Jordan" userId="S::jordan.hollis@snhu.edu::42ee41f3-3ff2-4344-9655-130bf9a948bc" providerId="AD" clId="Web-{D3D6D3AC-7F56-E0B2-6B61-4E9115E63099}" dt="2026-10-18T04:46:55.515" v="1558" actId="20577"/>
        <pc:sldMkLst>
          <pc:docMk/>
          <pc:sldMk cId="0" sldId="260"/>
        </pc:sldMkLst>
        <pc:spChg chg="mod">
          <ac:chgData name="Hollis, Jordan" userId="S::jordan.hollis@snhu.edu::42ee41f3-3ff2-4344-9655-130bf9a948bc" providerId="AD" clId="Web-{D3D6D3AC-7F56-E0B2-6B61-4E9115E63099}" dt="2026-10-18T04:46:55.515" v="1558" actId="20577"/>
          <ac:spMkLst>
            <pc:docMk/>
            <pc:sldMk cId="0" sldId="260"/>
            <ac:spMk id="175" creationId="{00000000-0000-0000-0000-000000000000}"/>
          </ac:spMkLst>
        </pc:spChg>
      </pc:sldChg>
      <pc:sldChg chg="modSp">
        <pc:chgData name="Hollis, Jordan" userId="S::jordan.hollis@snhu.edu::42ee41f3-3ff2-4344-9655-130bf9a948bc" providerId="AD" clId="Web-{D3D6D3AC-7F56-E0B2-6B61-4E9115E63099}" dt="2026-10-18T05:01:57.846" v="1991" actId="20577"/>
        <pc:sldMkLst>
          <pc:docMk/>
          <pc:sldMk cId="0" sldId="261"/>
        </pc:sldMkLst>
        <pc:spChg chg="mod">
          <ac:chgData name="Hollis, Jordan" userId="S::jordan.hollis@snhu.edu::42ee41f3-3ff2-4344-9655-130bf9a948bc" providerId="AD" clId="Web-{D3D6D3AC-7F56-E0B2-6B61-4E9115E63099}" dt="2026-10-18T05:01:57.846" v="1991" actId="20577"/>
          <ac:spMkLst>
            <pc:docMk/>
            <pc:sldMk cId="0" sldId="261"/>
            <ac:spMk id="182" creationId="{00000000-0000-0000-0000-000000000000}"/>
          </ac:spMkLst>
        </pc:spChg>
      </pc:sldChg>
      <pc:sldChg chg="modSp">
        <pc:chgData name="Hollis, Jordan" userId="S::jordan.hollis@snhu.edu::42ee41f3-3ff2-4344-9655-130bf9a948bc" providerId="AD" clId="Web-{D3D6D3AC-7F56-E0B2-6B61-4E9115E63099}" dt="2026-10-18T05:11:07.931" v="2330" actId="20577"/>
        <pc:sldMkLst>
          <pc:docMk/>
          <pc:sldMk cId="0" sldId="262"/>
        </pc:sldMkLst>
        <pc:spChg chg="mod">
          <ac:chgData name="Hollis, Jordan" userId="S::jordan.hollis@snhu.edu::42ee41f3-3ff2-4344-9655-130bf9a948bc" providerId="AD" clId="Web-{D3D6D3AC-7F56-E0B2-6B61-4E9115E63099}" dt="2026-10-18T05:11:07.931" v="2330" actId="20577"/>
          <ac:spMkLst>
            <pc:docMk/>
            <pc:sldMk cId="0" sldId="262"/>
            <ac:spMk id="189" creationId="{00000000-0000-0000-0000-000000000000}"/>
          </ac:spMkLst>
        </pc:spChg>
      </pc:sldChg>
      <pc:sldChg chg="addSp modSp">
        <pc:chgData name="Hollis, Jordan" userId="S::jordan.hollis@snhu.edu::42ee41f3-3ff2-4344-9655-130bf9a948bc" providerId="AD" clId="Web-{D3D6D3AC-7F56-E0B2-6B61-4E9115E63099}" dt="2026-10-18T05:19:19.659" v="2528" actId="20577"/>
        <pc:sldMkLst>
          <pc:docMk/>
          <pc:sldMk cId="0" sldId="263"/>
        </pc:sldMkLst>
        <pc:spChg chg="mod">
          <ac:chgData name="Hollis, Jordan" userId="S::jordan.hollis@snhu.edu::42ee41f3-3ff2-4344-9655-130bf9a948bc" providerId="AD" clId="Web-{D3D6D3AC-7F56-E0B2-6B61-4E9115E63099}" dt="2026-10-18T05:19:19.659" v="2528" actId="20577"/>
          <ac:spMkLst>
            <pc:docMk/>
            <pc:sldMk cId="0" sldId="263"/>
            <ac:spMk id="196" creationId="{00000000-0000-0000-0000-000000000000}"/>
          </ac:spMkLst>
        </pc:spChg>
        <pc:picChg chg="add mod">
          <ac:chgData name="Hollis, Jordan" userId="S::jordan.hollis@snhu.edu::42ee41f3-3ff2-4344-9655-130bf9a948bc" providerId="AD" clId="Web-{D3D6D3AC-7F56-E0B2-6B61-4E9115E63099}" dt="2026-10-18T05:17:08.908" v="2430" actId="1076"/>
          <ac:picMkLst>
            <pc:docMk/>
            <pc:sldMk cId="0" sldId="263"/>
            <ac:picMk id="2" creationId="{B85DC414-66D8-9C0B-7C87-3FBD05218178}"/>
          </ac:picMkLst>
        </pc:picChg>
      </pc:sldChg>
      <pc:sldChg chg="modSp">
        <pc:chgData name="Hollis, Jordan" userId="S::jordan.hollis@snhu.edu::42ee41f3-3ff2-4344-9655-130bf9a948bc" providerId="AD" clId="Web-{D3D6D3AC-7F56-E0B2-6B61-4E9115E63099}" dt="2026-10-18T05:27:30.453" v="2538"/>
        <pc:sldMkLst>
          <pc:docMk/>
          <pc:sldMk cId="0" sldId="264"/>
        </pc:sldMkLst>
        <pc:spChg chg="mod">
          <ac:chgData name="Hollis, Jordan" userId="S::jordan.hollis@snhu.edu::42ee41f3-3ff2-4344-9655-130bf9a948bc" providerId="AD" clId="Web-{D3D6D3AC-7F56-E0B2-6B61-4E9115E63099}" dt="2026-10-18T05:27:07.202" v="2533" actId="1076"/>
          <ac:spMkLst>
            <pc:docMk/>
            <pc:sldMk cId="0" sldId="264"/>
            <ac:spMk id="202" creationId="{00000000-0000-0000-0000-000000000000}"/>
          </ac:spMkLst>
        </pc:spChg>
        <pc:picChg chg="mod modCrop">
          <ac:chgData name="Hollis, Jordan" userId="S::jordan.hollis@snhu.edu::42ee41f3-3ff2-4344-9655-130bf9a948bc" providerId="AD" clId="Web-{D3D6D3AC-7F56-E0B2-6B61-4E9115E63099}" dt="2026-10-18T05:27:30.453" v="2538"/>
          <ac:picMkLst>
            <pc:docMk/>
            <pc:sldMk cId="0" sldId="264"/>
            <ac:picMk id="203" creationId="{00000000-0000-0000-0000-000000000000}"/>
          </ac:picMkLst>
        </pc:picChg>
      </pc:sldChg>
      <pc:sldChg chg="modSp">
        <pc:chgData name="Hollis, Jordan" userId="S::jordan.hollis@snhu.edu::42ee41f3-3ff2-4344-9655-130bf9a948bc" providerId="AD" clId="Web-{D3D6D3AC-7F56-E0B2-6B61-4E9115E63099}" dt="2026-10-18T05:50:43.988" v="3644" actId="20577"/>
        <pc:sldMkLst>
          <pc:docMk/>
          <pc:sldMk cId="0" sldId="265"/>
        </pc:sldMkLst>
        <pc:spChg chg="mod">
          <ac:chgData name="Hollis, Jordan" userId="S::jordan.hollis@snhu.edu::42ee41f3-3ff2-4344-9655-130bf9a948bc" providerId="AD" clId="Web-{D3D6D3AC-7F56-E0B2-6B61-4E9115E63099}" dt="2026-10-18T05:50:43.988" v="3644" actId="20577"/>
          <ac:spMkLst>
            <pc:docMk/>
            <pc:sldMk cId="0" sldId="265"/>
            <ac:spMk id="210" creationId="{00000000-0000-0000-0000-000000000000}"/>
          </ac:spMkLst>
        </pc:spChg>
      </pc:sldChg>
      <pc:sldChg chg="modSp">
        <pc:chgData name="Hollis, Jordan" userId="S::jordan.hollis@snhu.edu::42ee41f3-3ff2-4344-9655-130bf9a948bc" providerId="AD" clId="Web-{D3D6D3AC-7F56-E0B2-6B61-4E9115E63099}" dt="2026-10-18T05:59:48.119" v="4199" actId="20577"/>
        <pc:sldMkLst>
          <pc:docMk/>
          <pc:sldMk cId="0" sldId="266"/>
        </pc:sldMkLst>
        <pc:spChg chg="mod">
          <ac:chgData name="Hollis, Jordan" userId="S::jordan.hollis@snhu.edu::42ee41f3-3ff2-4344-9655-130bf9a948bc" providerId="AD" clId="Web-{D3D6D3AC-7F56-E0B2-6B61-4E9115E63099}" dt="2026-10-18T05:59:48.119" v="4199" actId="20577"/>
          <ac:spMkLst>
            <pc:docMk/>
            <pc:sldMk cId="0" sldId="266"/>
            <ac:spMk id="217" creationId="{00000000-0000-0000-0000-000000000000}"/>
          </ac:spMkLst>
        </pc:spChg>
      </pc:sldChg>
    </pc:docChg>
  </pc:docChgLst>
  <pc:docChgLst>
    <pc:chgData name="Hollis, Jordan" userId="S::jordan.hollis@snhu.edu::42ee41f3-3ff2-4344-9655-130bf9a948bc" providerId="AD" clId="Web-{540A0824-3977-C25E-AEC2-F09DBCBB0B4D}"/>
    <pc:docChg chg="modSld">
      <pc:chgData name="Hollis, Jordan" userId="S::jordan.hollis@snhu.edu::42ee41f3-3ff2-4344-9655-130bf9a948bc" providerId="AD" clId="Web-{540A0824-3977-C25E-AEC2-F09DBCBB0B4D}" dt="2026-10-19T03:05:02.055" v="586" actId="20577"/>
      <pc:docMkLst>
        <pc:docMk/>
      </pc:docMkLst>
      <pc:sldChg chg="modSp">
        <pc:chgData name="Hollis, Jordan" userId="S::jordan.hollis@snhu.edu::42ee41f3-3ff2-4344-9655-130bf9a948bc" providerId="AD" clId="Web-{540A0824-3977-C25E-AEC2-F09DBCBB0B4D}" dt="2026-10-19T02:39:00.941" v="96" actId="20577"/>
        <pc:sldMkLst>
          <pc:docMk/>
          <pc:sldMk cId="0" sldId="266"/>
        </pc:sldMkLst>
        <pc:spChg chg="mod">
          <ac:chgData name="Hollis, Jordan" userId="S::jordan.hollis@snhu.edu::42ee41f3-3ff2-4344-9655-130bf9a948bc" providerId="AD" clId="Web-{540A0824-3977-C25E-AEC2-F09DBCBB0B4D}" dt="2026-10-19T02:39:00.941" v="96" actId="20577"/>
          <ac:spMkLst>
            <pc:docMk/>
            <pc:sldMk cId="0" sldId="266"/>
            <ac:spMk id="217" creationId="{00000000-0000-0000-0000-000000000000}"/>
          </ac:spMkLst>
        </pc:spChg>
      </pc:sldChg>
      <pc:sldChg chg="modSp">
        <pc:chgData name="Hollis, Jordan" userId="S::jordan.hollis@snhu.edu::42ee41f3-3ff2-4344-9655-130bf9a948bc" providerId="AD" clId="Web-{540A0824-3977-C25E-AEC2-F09DBCBB0B4D}" dt="2026-10-19T02:45:41.036" v="271" actId="20577"/>
        <pc:sldMkLst>
          <pc:docMk/>
          <pc:sldMk cId="0" sldId="267"/>
        </pc:sldMkLst>
        <pc:spChg chg="mod">
          <ac:chgData name="Hollis, Jordan" userId="S::jordan.hollis@snhu.edu::42ee41f3-3ff2-4344-9655-130bf9a948bc" providerId="AD" clId="Web-{540A0824-3977-C25E-AEC2-F09DBCBB0B4D}" dt="2026-10-19T02:45:41.036" v="271" actId="20577"/>
          <ac:spMkLst>
            <pc:docMk/>
            <pc:sldMk cId="0" sldId="267"/>
            <ac:spMk id="224" creationId="{00000000-0000-0000-0000-000000000000}"/>
          </ac:spMkLst>
        </pc:spChg>
      </pc:sldChg>
      <pc:sldChg chg="modSp">
        <pc:chgData name="Hollis, Jordan" userId="S::jordan.hollis@snhu.edu::42ee41f3-3ff2-4344-9655-130bf9a948bc" providerId="AD" clId="Web-{540A0824-3977-C25E-AEC2-F09DBCBB0B4D}" dt="2026-10-19T02:52:26.818" v="518" actId="20577"/>
        <pc:sldMkLst>
          <pc:docMk/>
          <pc:sldMk cId="0" sldId="268"/>
        </pc:sldMkLst>
        <pc:spChg chg="mod">
          <ac:chgData name="Hollis, Jordan" userId="S::jordan.hollis@snhu.edu::42ee41f3-3ff2-4344-9655-130bf9a948bc" providerId="AD" clId="Web-{540A0824-3977-C25E-AEC2-F09DBCBB0B4D}" dt="2026-10-19T02:52:26.818" v="518" actId="20577"/>
          <ac:spMkLst>
            <pc:docMk/>
            <pc:sldMk cId="0" sldId="268"/>
            <ac:spMk id="231" creationId="{00000000-0000-0000-0000-000000000000}"/>
          </ac:spMkLst>
        </pc:spChg>
      </pc:sldChg>
      <pc:sldChg chg="modSp">
        <pc:chgData name="Hollis, Jordan" userId="S::jordan.hollis@snhu.edu::42ee41f3-3ff2-4344-9655-130bf9a948bc" providerId="AD" clId="Web-{540A0824-3977-C25E-AEC2-F09DBCBB0B4D}" dt="2026-10-19T03:05:02.055" v="586" actId="20577"/>
        <pc:sldMkLst>
          <pc:docMk/>
          <pc:sldMk cId="0" sldId="269"/>
        </pc:sldMkLst>
        <pc:spChg chg="mod">
          <ac:chgData name="Hollis, Jordan" userId="S::jordan.hollis@snhu.edu::42ee41f3-3ff2-4344-9655-130bf9a948bc" providerId="AD" clId="Web-{540A0824-3977-C25E-AEC2-F09DBCBB0B4D}" dt="2026-10-19T03:05:02.055" v="586" actId="20577"/>
          <ac:spMkLst>
            <pc:docMk/>
            <pc:sldMk cId="0" sldId="269"/>
            <ac:spMk id="23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5.jpe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notesSlide" Target="../notesSlides/notesSlide14.xml"/><Relationship Id="rId7" Type="http://schemas.openxmlformats.org/officeDocument/2006/relationships/hyperlink" Target="https://doi.org/10.1109/CMI51275.2020.9322704" TargetMode="Externa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doi.org/10.1109/ICC59461.2026.11588185" TargetMode="External"/><Relationship Id="rId5" Type="http://schemas.openxmlformats.org/officeDocument/2006/relationships/hyperlink" Target="https://doi.org/10.70265/PNEZ3158" TargetMode="External"/><Relationship Id="rId4" Type="http://schemas.openxmlformats.org/officeDocument/2006/relationships/hyperlink" Target="https://doi.org/10.1109/MoNeTec60984.2024.1076818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70000"/>
              </a:lnSpc>
              <a:spcBef>
                <a:spcPts val="0"/>
              </a:spcBef>
              <a:spcAft>
                <a:spcPts val="0"/>
              </a:spcAft>
              <a:buClr>
                <a:schemeClr val="lt1"/>
              </a:buClr>
              <a:buSzPts val="1850"/>
              <a:buNone/>
            </a:pPr>
            <a:r>
              <a:rPr lang="en-US" sz="1850"/>
              <a:t>Security Policy Presentation</a:t>
            </a:r>
            <a:endParaRPr/>
          </a:p>
          <a:p>
            <a:pPr marL="0" indent="0">
              <a:lnSpc>
                <a:spcPct val="70000"/>
              </a:lnSpc>
              <a:buSzPts val="1850"/>
            </a:pPr>
            <a:r>
              <a:rPr lang="en-US" sz="1850"/>
              <a:t>Developer: Jordan Hollis</a:t>
            </a:r>
            <a:endParaRPr lang="en-US" sz="1850" i="1"/>
          </a:p>
          <a:p>
            <a:pPr marL="0" lvl="0" indent="0" algn="l" rtl="0">
              <a:lnSpc>
                <a:spcPct val="70000"/>
              </a:lnSpc>
              <a:spcBef>
                <a:spcPts val="1000"/>
              </a:spcBef>
              <a:spcAft>
                <a:spcPts val="0"/>
              </a:spcAft>
              <a:buClr>
                <a:schemeClr val="lt1"/>
              </a:buClr>
              <a:buSzPts val="1850"/>
              <a:buNone/>
            </a:pPr>
            <a:endParaRPr sz="1850" i="1"/>
          </a:p>
          <a:p>
            <a:pPr marL="0" indent="0">
              <a:lnSpc>
                <a:spcPct val="70000"/>
              </a:lnSpc>
              <a:buSzPts val="1850"/>
            </a:pPr>
            <a:r>
              <a:rPr lang="en-US" dirty="0"/>
              <a:t>In the digital world, cyber attacks can happen at any given moment. To sleep soundly at night, follow these given principles and coding standards to keep your data safe.</a:t>
            </a:r>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1793534" y="241679"/>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6636875" y="1623990"/>
            <a:ext cx="5540117" cy="3148552"/>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3" name="Text Placeholder 2">
            <a:extLst>
              <a:ext uri="{FF2B5EF4-FFF2-40B4-BE49-F238E27FC236}">
                <a16:creationId xmlns:a16="http://schemas.microsoft.com/office/drawing/2014/main" id="{F77C03DE-E393-A877-534D-8581E9C04311}"/>
              </a:ext>
            </a:extLst>
          </p:cNvPr>
          <p:cNvSpPr>
            <a:spLocks noGrp="1"/>
          </p:cNvSpPr>
          <p:nvPr>
            <p:ph type="body" idx="1"/>
          </p:nvPr>
        </p:nvSpPr>
        <p:spPr>
          <a:xfrm>
            <a:off x="282759" y="1804114"/>
            <a:ext cx="5952417" cy="3054307"/>
          </a:xfrm>
        </p:spPr>
        <p:txBody>
          <a:bodyPr>
            <a:normAutofit fontScale="92500" lnSpcReduction="20000"/>
          </a:bodyPr>
          <a:lstStyle/>
          <a:p>
            <a:r>
              <a:rPr lang="en-US" dirty="0"/>
              <a:t>Defense in Depth is the most recommended method when it comes to keeping data locked away from cyber threats. This method involves using multiple independent security controls that are broken down into three categ</a:t>
            </a:r>
            <a:r>
              <a:rPr lang="en-US"/>
              <a:t>ories which are technical, physical, and administrative controls. Administrative cover the policies, procedures and training. Physical controls cover the physical access to the infrastructure, and technical covers the configuration of both software and hardware that guard any digital system.</a:t>
            </a:r>
            <a:endParaRPr lang="en-US"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a:bodyPr>
          <a:lstStyle/>
          <a:p>
            <a:pPr marL="228600" indent="-88900">
              <a:buSzPts val="2200"/>
              <a:buNone/>
            </a:pPr>
            <a:r>
              <a:rPr lang="en-US" dirty="0"/>
              <a:t>There are a total of four threat levels. These levels are going to determine how severe this </a:t>
            </a:r>
            <a:r>
              <a:rPr lang="en-US"/>
              <a:t>threat is.</a:t>
            </a:r>
            <a:endParaRPr lang="en-US" dirty="0"/>
          </a:p>
        </p:txBody>
      </p:sp>
      <p:graphicFrame>
        <p:nvGraphicFramePr>
          <p:cNvPr id="161" name="Google Shape;161;p4" descr="Alt text required"/>
          <p:cNvGraphicFramePr/>
          <p:nvPr>
            <p:extLst>
              <p:ext uri="{D42A27DB-BD31-4B8C-83A1-F6EECF244321}">
                <p14:modId xmlns:p14="http://schemas.microsoft.com/office/powerpoint/2010/main" val="2864926358"/>
              </p:ext>
            </p:extLst>
          </p:nvPr>
        </p:nvGraphicFramePr>
        <p:xfrm>
          <a:off x="3171900" y="2063546"/>
          <a:ext cx="7835225" cy="475482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2115816">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A </a:t>
                      </a:r>
                      <a:r>
                        <a:rPr lang="en-US" sz="3600" u="none" strike="noStrike" cap="none">
                          <a:solidFill>
                            <a:srgbClr val="FFD966"/>
                          </a:solidFill>
                        </a:rPr>
                        <a:t>cyber-attack</a:t>
                      </a:r>
                      <a:r>
                        <a:rPr lang="en-US" sz="3600" u="none" strike="noStrike" cap="none" dirty="0">
                          <a:solidFill>
                            <a:srgbClr val="FFD966"/>
                          </a:solidFill>
                        </a:rPr>
                        <a:t> that will most likely </a:t>
                      </a:r>
                      <a:r>
                        <a:rPr lang="en-US" sz="3600" u="none" strike="noStrike" cap="none">
                          <a:solidFill>
                            <a:srgbClr val="FFD966"/>
                          </a:solidFill>
                        </a:rPr>
                        <a:t>occur.</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A cyber threat </a:t>
                      </a:r>
                      <a:r>
                        <a:rPr lang="en-US" sz="3600" u="none" strike="noStrike" cap="none">
                          <a:solidFill>
                            <a:srgbClr val="FFD966"/>
                          </a:solidFill>
                        </a:rPr>
                        <a:t>that needs to be dealt with.</a:t>
                      </a:r>
                      <a:endParaRPr lang="en-US" sz="3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115816">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Low priority</a:t>
                      </a:r>
                      <a:endParaRPr sz="1400" u="none" strike="noStrike" cap="none"/>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A </a:t>
                      </a:r>
                      <a:r>
                        <a:rPr lang="en-US" sz="3600" u="none" strike="noStrike" cap="none">
                          <a:solidFill>
                            <a:srgbClr val="FFD966"/>
                          </a:solidFill>
                        </a:rPr>
                        <a:t>cyber threat</a:t>
                      </a:r>
                      <a:r>
                        <a:rPr lang="en-US" sz="3600" u="none" strike="noStrike" cap="none" dirty="0">
                          <a:solidFill>
                            <a:srgbClr val="FFD966"/>
                          </a:solidFill>
                        </a:rPr>
                        <a:t> that most likely won't </a:t>
                      </a:r>
                      <a:r>
                        <a:rPr lang="en-US" sz="3600" u="none" strike="noStrike" cap="none">
                          <a:solidFill>
                            <a:srgbClr val="FFD966"/>
                          </a:solidFill>
                        </a:rPr>
                        <a:t>occur.</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A cyber-attack that probably isn't going to happen.</a:t>
                      </a:r>
                      <a:endParaRPr lang="en-US" sz="3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indent="-457200">
              <a:spcBef>
                <a:spcPts val="0"/>
              </a:spcBef>
              <a:buSzPts val="2200"/>
              <a:buAutoNum type="arabicPeriod"/>
            </a:pPr>
            <a:r>
              <a:rPr lang="en-US" dirty="0"/>
              <a:t>Validate your inp</a:t>
            </a:r>
            <a:r>
              <a:rPr lang="en-US"/>
              <a:t>ut data.</a:t>
            </a:r>
            <a:endParaRPr lang="en-US" dirty="0"/>
          </a:p>
          <a:p>
            <a:pPr indent="-457200">
              <a:spcBef>
                <a:spcPts val="0"/>
              </a:spcBef>
              <a:buSzPts val="2200"/>
              <a:buAutoNum type="arabicPeriod"/>
            </a:pPr>
            <a:r>
              <a:rPr lang="en-US" dirty="0"/>
              <a:t>Heed </a:t>
            </a:r>
            <a:r>
              <a:rPr lang="en-US"/>
              <a:t>to the compiler warnings.</a:t>
            </a:r>
          </a:p>
          <a:p>
            <a:pPr indent="-457200">
              <a:spcBef>
                <a:spcPts val="0"/>
              </a:spcBef>
              <a:buSzPts val="2200"/>
              <a:buAutoNum type="arabicPeriod"/>
            </a:pPr>
            <a:r>
              <a:rPr lang="en-US"/>
              <a:t>Plan the architecture and set the security policies in place.</a:t>
            </a:r>
          </a:p>
          <a:p>
            <a:pPr indent="-457200">
              <a:spcBef>
                <a:spcPts val="0"/>
              </a:spcBef>
              <a:buSzPts val="2200"/>
              <a:buAutoNum type="arabicPeriod"/>
            </a:pPr>
            <a:r>
              <a:rPr lang="en-US"/>
              <a:t>Keep things simple.</a:t>
            </a:r>
          </a:p>
          <a:p>
            <a:pPr indent="-457200">
              <a:spcBef>
                <a:spcPts val="0"/>
              </a:spcBef>
              <a:buSzPts val="2200"/>
              <a:buAutoNum type="arabicPeriod"/>
            </a:pPr>
            <a:r>
              <a:rPr lang="en-US"/>
              <a:t>Always default deny.</a:t>
            </a:r>
          </a:p>
          <a:p>
            <a:pPr indent="-457200">
              <a:spcBef>
                <a:spcPts val="0"/>
              </a:spcBef>
              <a:buSzPts val="2200"/>
              <a:buAutoNum type="arabicPeriod"/>
            </a:pPr>
            <a:r>
              <a:rPr lang="en-US" dirty="0"/>
              <a:t>Go by the principle of least privile</a:t>
            </a:r>
            <a:r>
              <a:rPr lang="en-US"/>
              <a:t>ged</a:t>
            </a:r>
          </a:p>
          <a:p>
            <a:pPr indent="-457200">
              <a:spcBef>
                <a:spcPts val="0"/>
              </a:spcBef>
              <a:buSzPts val="2200"/>
              <a:buAutoNum type="arabicPeriod"/>
            </a:pPr>
            <a:r>
              <a:rPr lang="en-US" dirty="0"/>
              <a:t>Have the data properly </a:t>
            </a:r>
            <a:r>
              <a:rPr lang="en-US"/>
              <a:t>sanitized before sending it off to another system.</a:t>
            </a:r>
          </a:p>
          <a:p>
            <a:pPr indent="-457200">
              <a:spcBef>
                <a:spcPts val="0"/>
              </a:spcBef>
              <a:buSzPts val="2200"/>
              <a:buAutoNum type="arabicPeriod"/>
            </a:pPr>
            <a:r>
              <a:rPr lang="en-US"/>
              <a:t>Always practice the Defense in Depth method.</a:t>
            </a:r>
          </a:p>
          <a:p>
            <a:pPr indent="-457200">
              <a:spcBef>
                <a:spcPts val="0"/>
              </a:spcBef>
              <a:buSzPts val="2200"/>
              <a:buAutoNum type="arabicPeriod"/>
            </a:pPr>
            <a:r>
              <a:rPr lang="en-US"/>
              <a:t>Employ effective quality assurance techniques.</a:t>
            </a:r>
          </a:p>
          <a:p>
            <a:pPr indent="-457200">
              <a:spcBef>
                <a:spcPts val="0"/>
              </a:spcBef>
              <a:buSzPts val="2200"/>
              <a:buAutoNum type="arabicPeriod"/>
            </a:pPr>
            <a:r>
              <a:rPr lang="en-US"/>
              <a:t>Stick to the best secure coding standards.</a:t>
            </a:r>
            <a:endParaRPr lang="en-US"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528362" y="1841899"/>
            <a:ext cx="10278814" cy="5000239"/>
          </a:xfrm>
          <a:prstGeom prst="rect">
            <a:avLst/>
          </a:prstGeom>
          <a:noFill/>
          <a:ln>
            <a:noFill/>
          </a:ln>
        </p:spPr>
        <p:txBody>
          <a:bodyPr spcFirstLastPara="1" wrap="square" lIns="91425" tIns="45700" rIns="91425" bIns="45700" anchor="t" anchorCtr="0">
            <a:normAutofit lnSpcReduction="10000"/>
          </a:bodyPr>
          <a:lstStyle/>
          <a:p>
            <a:pPr indent="-457200">
              <a:spcBef>
                <a:spcPts val="0"/>
              </a:spcBef>
              <a:buSzPts val="2000"/>
              <a:buAutoNum type="arabicPeriod"/>
            </a:pPr>
            <a:r>
              <a:rPr lang="en-US" sz="2000" dirty="0"/>
              <a:t>Data Type: This standard sets the rules in place that all developers mus</a:t>
            </a:r>
            <a:r>
              <a:rPr lang="en-US" sz="2000"/>
              <a:t>t abide by.</a:t>
            </a:r>
          </a:p>
          <a:p>
            <a:pPr indent="-457200">
              <a:spcBef>
                <a:spcPts val="0"/>
              </a:spcBef>
              <a:buSzPts val="2000"/>
              <a:buAutoNum type="arabicPeriod"/>
            </a:pPr>
            <a:r>
              <a:rPr lang="en-US" sz="2000"/>
              <a:t>Data Value: This promises that data is being recorded, handled, and processed to prevent any security problems and reduce errors.</a:t>
            </a:r>
          </a:p>
          <a:p>
            <a:pPr indent="-457200">
              <a:spcBef>
                <a:spcPts val="0"/>
              </a:spcBef>
              <a:buSzPts val="2000"/>
              <a:buAutoNum type="arabicPeriod"/>
            </a:pPr>
            <a:r>
              <a:rPr lang="en-US" sz="2000" dirty="0"/>
              <a:t>String Correctness: This deals with reducing bugs, patching up any security </a:t>
            </a:r>
            <a:r>
              <a:rPr lang="en-US" sz="2000"/>
              <a:t>vulnerabilities, and boosting the code's performance.</a:t>
            </a:r>
          </a:p>
          <a:p>
            <a:pPr indent="-457200">
              <a:spcBef>
                <a:spcPts val="0"/>
              </a:spcBef>
              <a:buSzPts val="2000"/>
              <a:buAutoNum type="arabicPeriod"/>
            </a:pPr>
            <a:r>
              <a:rPr lang="en-US" sz="2000" dirty="0"/>
              <a:t>SQL Injection: This deals with separating an SQL code that's executable from data that is user-su</a:t>
            </a:r>
            <a:r>
              <a:rPr lang="en-US" sz="2000"/>
              <a:t>pplied.</a:t>
            </a:r>
          </a:p>
          <a:p>
            <a:pPr indent="-457200">
              <a:spcBef>
                <a:spcPts val="0"/>
              </a:spcBef>
              <a:buSzPts val="2000"/>
              <a:buAutoNum type="arabicPeriod"/>
            </a:pPr>
            <a:r>
              <a:rPr lang="en-US" sz="2000" dirty="0"/>
              <a:t>Memory guard: This standard sets the rules to </a:t>
            </a:r>
            <a:r>
              <a:rPr lang="en-US" sz="2000"/>
              <a:t>eliminate</a:t>
            </a:r>
            <a:r>
              <a:rPr lang="en-US" sz="2000" dirty="0"/>
              <a:t> any </a:t>
            </a:r>
            <a:r>
              <a:rPr lang="en-US" sz="2000"/>
              <a:t>memory related bugs or buffer overflows.</a:t>
            </a:r>
          </a:p>
          <a:p>
            <a:pPr indent="-457200">
              <a:spcBef>
                <a:spcPts val="0"/>
              </a:spcBef>
              <a:buSzPts val="2000"/>
              <a:buAutoNum type="arabicPeriod"/>
            </a:pPr>
            <a:r>
              <a:rPr lang="en-US" sz="2000" dirty="0"/>
              <a:t>Assertion: This is a </a:t>
            </a:r>
            <a:r>
              <a:rPr lang="en-US" sz="2000" err="1"/>
              <a:t>boolean</a:t>
            </a:r>
            <a:r>
              <a:rPr lang="en-US" sz="2000" dirty="0"/>
              <a:t> code that will confirm any bugs present when testing is </a:t>
            </a:r>
            <a:r>
              <a:rPr lang="en-US" sz="2000"/>
              <a:t>occurring.</a:t>
            </a:r>
          </a:p>
          <a:p>
            <a:pPr indent="-457200">
              <a:spcBef>
                <a:spcPts val="0"/>
              </a:spcBef>
              <a:buSzPts val="2000"/>
              <a:buAutoNum type="arabicPeriod"/>
            </a:pPr>
            <a:r>
              <a:rPr lang="en-US" sz="2000" dirty="0"/>
              <a:t>Exception: This </a:t>
            </a:r>
            <a:r>
              <a:rPr lang="en-US" sz="2000"/>
              <a:t>standard will govern how programmers find, throw, and handle an application with runtime errors.</a:t>
            </a:r>
          </a:p>
          <a:p>
            <a:pPr indent="-457200">
              <a:spcBef>
                <a:spcPts val="0"/>
              </a:spcBef>
              <a:buSzPts val="2000"/>
              <a:buAutoNum type="arabicPeriod"/>
            </a:pPr>
            <a:r>
              <a:rPr lang="en-US" sz="2000"/>
              <a:t>Assess: This standard deals with checking that the codebase is following the rules and formatting.</a:t>
            </a:r>
          </a:p>
          <a:p>
            <a:pPr indent="-457200">
              <a:spcBef>
                <a:spcPts val="0"/>
              </a:spcBef>
              <a:buSzPts val="2000"/>
              <a:buAutoNum type="arabicPeriod"/>
            </a:pPr>
            <a:r>
              <a:rPr lang="en-US" sz="2000"/>
              <a:t>Values: The values define the rules and best coding practices that programmers use to write and structure source code.</a:t>
            </a:r>
          </a:p>
          <a:p>
            <a:pPr indent="-457200">
              <a:spcBef>
                <a:spcPts val="0"/>
              </a:spcBef>
              <a:buSzPts val="2000"/>
              <a:buAutoNum type="arabicPeriod"/>
            </a:pPr>
            <a:r>
              <a:rPr lang="en-US" sz="2000" dirty="0"/>
              <a:t>If/else statements: These statements will make sure your codebase is secured and </a:t>
            </a:r>
            <a:r>
              <a:rPr lang="en-US" sz="2000" err="1"/>
              <a:t>eas</a:t>
            </a:r>
            <a:r>
              <a:rPr lang="en-US" sz="2000"/>
              <a:t>y to maintain.</a:t>
            </a:r>
            <a:endParaRPr lang="en-US" sz="2000"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000"/>
            </a:pPr>
            <a:r>
              <a:rPr lang="en-US" sz="2000" dirty="0"/>
              <a:t>Encryption in flight: This is the process of encrypting data while the data is being sent away. It uses mathematical ciphers to scramble up the data to make it unreadable and it gets properly put back together when an authorized </a:t>
            </a:r>
            <a:r>
              <a:rPr lang="en-US" sz="2000" err="1"/>
              <a:t>user</a:t>
            </a:r>
            <a:r>
              <a:rPr lang="en-US" sz="2000" dirty="0"/>
              <a:t>  that has a matching </a:t>
            </a:r>
            <a:r>
              <a:rPr lang="en-US" sz="2000" err="1"/>
              <a:t>ke</a:t>
            </a:r>
            <a:r>
              <a:rPr lang="en-US" sz="2000" dirty="0"/>
              <a:t>y or </a:t>
            </a:r>
            <a:r>
              <a:rPr lang="en-US" sz="2000"/>
              <a:t>passphrase.</a:t>
            </a:r>
          </a:p>
          <a:p>
            <a:pPr marL="228600" indent="-228600">
              <a:spcBef>
                <a:spcPts val="0"/>
              </a:spcBef>
              <a:buSzPts val="2000"/>
            </a:pPr>
            <a:r>
              <a:rPr lang="en-US" sz="2000" dirty="0"/>
              <a:t>Encryption at rest: This prevents any thieves from stealing important data that isn't crypted. Stored data will get scrambled into unreadable format </a:t>
            </a:r>
            <a:r>
              <a:rPr lang="en-US" sz="2000"/>
              <a:t>using</a:t>
            </a:r>
            <a:r>
              <a:rPr lang="en-US" sz="2000" dirty="0"/>
              <a:t> a </a:t>
            </a:r>
            <a:r>
              <a:rPr lang="en-US" sz="2000"/>
              <a:t>cryptographic algorithm.</a:t>
            </a:r>
          </a:p>
          <a:p>
            <a:pPr marL="228600" indent="-228600">
              <a:spcBef>
                <a:spcPts val="0"/>
              </a:spcBef>
              <a:buSzPts val="2000"/>
            </a:pPr>
            <a:r>
              <a:rPr lang="en-US" sz="2000" dirty="0"/>
              <a:t>Encryption in use: This keeps active data safe when it is loaded into computer memor</a:t>
            </a:r>
            <a:r>
              <a:rPr lang="en-US" sz="2000"/>
              <a:t>y, application processing states or CPU registry.</a:t>
            </a:r>
            <a:endParaRPr lang="en-US" sz="2000" dirty="0"/>
          </a:p>
          <a:p>
            <a:pPr marL="0" indent="0">
              <a:buSzPts val="1600"/>
              <a:buNone/>
            </a:pPr>
            <a:endParaRPr lang="en-US" sz="1600"/>
          </a:p>
          <a:p>
            <a:pPr marL="228600" indent="-88900">
              <a:buSzPts val="2200"/>
              <a:buNone/>
            </a:pPr>
            <a:endParaRPr lang="en-US"/>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400"/>
            </a:pPr>
            <a:r>
              <a:rPr lang="en-US" sz="2400" dirty="0"/>
              <a:t>Authentication: This policy is user identification, it confirms a user is who they claim they are </a:t>
            </a:r>
            <a:r>
              <a:rPr lang="en-US" sz="2400"/>
              <a:t>using passwords, security credentials, or a multi-factor authentication(MFA).</a:t>
            </a:r>
          </a:p>
          <a:p>
            <a:pPr marL="228600" indent="-228600">
              <a:spcBef>
                <a:spcPts val="0"/>
              </a:spcBef>
              <a:buSzPts val="2400"/>
            </a:pPr>
            <a:r>
              <a:rPr lang="en-US" sz="2400"/>
              <a:t>Authorization: This governs the actions, network resources, or commands that anyone who is authenticated to use. This uses the principle of least privileged.</a:t>
            </a:r>
          </a:p>
          <a:p>
            <a:pPr marL="228600" indent="-228600">
              <a:spcBef>
                <a:spcPts val="0"/>
              </a:spcBef>
              <a:buSzPts val="2400"/>
            </a:pPr>
            <a:r>
              <a:rPr lang="en-US" sz="2400" dirty="0"/>
              <a:t>Accounting: This policy watches over how many times you go into a system by logging on and out, and it records how much time you </a:t>
            </a:r>
            <a:r>
              <a:rPr lang="en-US" sz="2400"/>
              <a:t>spent on it.</a:t>
            </a:r>
            <a:endParaRPr lang="en-US" sz="2400"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7186731" cy="4024200"/>
          </a:xfrm>
          <a:prstGeom prst="rect">
            <a:avLst/>
          </a:prstGeom>
          <a:noFill/>
          <a:ln>
            <a:noFill/>
          </a:ln>
        </p:spPr>
        <p:txBody>
          <a:bodyPr spcFirstLastPara="1" wrap="square" lIns="91425" tIns="45700" rIns="91425" bIns="45700" anchor="t" anchorCtr="0">
            <a:noAutofit/>
          </a:bodyPr>
          <a:lstStyle/>
          <a:p>
            <a:pPr marL="0" indent="0">
              <a:buNone/>
            </a:pPr>
            <a:r>
              <a:rPr lang="en-US" dirty="0"/>
              <a:t>Unit testing is a practice in software development where parts of an applications that are small and can be tested are isolated and given a test run to confirm they're working correctly. These part are mostly classes, </a:t>
            </a:r>
            <a:r>
              <a:rPr lang="en-US"/>
              <a:t>individual functions, or methods.</a:t>
            </a:r>
            <a:endParaRPr lang="en-US"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2" name="Picture 1">
            <a:extLst>
              <a:ext uri="{FF2B5EF4-FFF2-40B4-BE49-F238E27FC236}">
                <a16:creationId xmlns:a16="http://schemas.microsoft.com/office/drawing/2014/main" id="{B85DC414-66D8-9C0B-7C87-3FBD05218178}"/>
              </a:ext>
            </a:extLst>
          </p:cNvPr>
          <p:cNvPicPr>
            <a:picLocks noChangeAspect="1"/>
          </p:cNvPicPr>
          <p:nvPr/>
        </p:nvPicPr>
        <p:blipFill>
          <a:blip r:embed="rId5"/>
          <a:stretch>
            <a:fillRect/>
          </a:stretch>
        </p:blipFill>
        <p:spPr>
          <a:xfrm>
            <a:off x="8054528" y="2583772"/>
            <a:ext cx="4055604" cy="2597300"/>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1699071" y="569150"/>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l="195" t="-262" r="216" b="-491"/>
          <a:stretch>
            <a:fillRect/>
          </a:stretch>
        </p:blipFill>
        <p:spPr>
          <a:xfrm>
            <a:off x="1466011" y="1868230"/>
            <a:ext cx="9617006" cy="3878446"/>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377221" y="317899"/>
            <a:ext cx="7898351" cy="6436074"/>
          </a:xfrm>
          <a:prstGeom prst="rect">
            <a:avLst/>
          </a:prstGeom>
          <a:noFill/>
          <a:ln>
            <a:noFill/>
          </a:ln>
        </p:spPr>
        <p:txBody>
          <a:bodyPr spcFirstLastPara="1" wrap="square" lIns="91425" tIns="45700" rIns="91425" bIns="45700" anchor="t" anchorCtr="0">
            <a:normAutofit fontScale="92500" lnSpcReduction="10000"/>
          </a:bodyPr>
          <a:lstStyle/>
          <a:p>
            <a:pPr marL="685800" lvl="1" indent="-228600">
              <a:buSzPts val="2000"/>
            </a:pPr>
            <a:r>
              <a:rPr lang="en-US" err="1"/>
              <a:t>DevSecOps</a:t>
            </a:r>
            <a:r>
              <a:rPr lang="en-US" dirty="0"/>
              <a:t> pipeline is simply put a software delivery flow that will integrate automated security practices, policies, and checks into all the </a:t>
            </a:r>
            <a:r>
              <a:rPr lang="en-US" err="1"/>
              <a:t>DevSecOps</a:t>
            </a:r>
            <a:r>
              <a:rPr lang="en-US" dirty="0"/>
              <a:t>' </a:t>
            </a:r>
            <a:r>
              <a:rPr lang="en-US"/>
              <a:t>stages. </a:t>
            </a:r>
          </a:p>
          <a:p>
            <a:pPr marL="685800" lvl="1" indent="-228600">
              <a:buSzPts val="2000"/>
            </a:pPr>
            <a:r>
              <a:rPr lang="en-US" dirty="0"/>
              <a:t>The first tool is threat modeling and collaboration, this is used during the development stage to assess any possible </a:t>
            </a:r>
            <a:r>
              <a:rPr lang="en-US"/>
              <a:t>security threats before you start writing code.</a:t>
            </a:r>
          </a:p>
          <a:p>
            <a:pPr marL="685800" lvl="1" indent="-228600">
              <a:buSzPts val="2000"/>
            </a:pPr>
            <a:r>
              <a:rPr lang="en-US" dirty="0"/>
              <a:t>Second tool is Pre-Build and secret scanning, this gets integrated right into the </a:t>
            </a:r>
            <a:r>
              <a:rPr lang="en-US"/>
              <a:t>source code manager to analyze files for things like tokens, API keys, or insecure code configurations.</a:t>
            </a:r>
          </a:p>
          <a:p>
            <a:pPr marL="685800" lvl="1" indent="-228600">
              <a:buSzPts val="2000"/>
            </a:pPr>
            <a:r>
              <a:rPr lang="en-US" dirty="0"/>
              <a:t>Third tool is Static Composition Analysis, this gets executed by CI runners. The SAST will check the proprietary code for any structure bugs while the SCA will look for any third party components for license compliance.</a:t>
            </a:r>
          </a:p>
          <a:p>
            <a:pPr marL="685800" lvl="1" indent="-228600">
              <a:buSzPts val="2000"/>
            </a:pPr>
            <a:r>
              <a:rPr lang="en-US" dirty="0"/>
              <a:t>Fourth tool is artifact and container scanning, this gets run on built containers and compiled packages to create an image of Software Bill of Materials and looks for any infrastructure vulnerabilities.</a:t>
            </a:r>
          </a:p>
          <a:p>
            <a:pPr marL="685800" lvl="1" indent="-228600">
              <a:buSzPts val="2000"/>
            </a:pPr>
            <a:r>
              <a:rPr lang="en-US" dirty="0"/>
              <a:t>Fifth tool is the dynamic testing, this interrogates any running tests. It'll stage an active hacking attempt on a live flow for demonstrat</a:t>
            </a:r>
            <a:r>
              <a:rPr lang="en-US"/>
              <a:t>ion purposes.</a:t>
            </a:r>
            <a:endParaRPr lang="en-US" dirty="0"/>
          </a:p>
          <a:p>
            <a:pPr marL="685800" lvl="1" indent="-228600">
              <a:buSzPts val="2000"/>
            </a:pPr>
            <a:r>
              <a:rPr lang="en-US" dirty="0"/>
              <a:t>The sixth and final tool is </a:t>
            </a:r>
            <a:r>
              <a:rPr lang="en-US" err="1"/>
              <a:t>IaC</a:t>
            </a:r>
            <a:r>
              <a:rPr lang="en-US" dirty="0"/>
              <a:t> validation and configuration, this will confirm infrastructure as code scripts to watch for any cloud misconfigurations or any overly privilege </a:t>
            </a:r>
            <a:r>
              <a:rPr lang="en-US"/>
              <a:t>identities before deploying starts.</a:t>
            </a:r>
            <a:endParaRPr lang="en-US" dirty="0"/>
          </a:p>
          <a:p>
            <a:pPr marL="685800" lvl="1" indent="-228600">
              <a:buSzPts val="2000"/>
            </a:pPr>
            <a:endParaRPr lang="en-US" dirty="0"/>
          </a:p>
          <a:p>
            <a:pPr marL="685800" lvl="1" indent="-228600">
              <a:buSzPts val="2000"/>
            </a:pPr>
            <a:endParaRPr lang="en-US"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000"/>
            </a:pPr>
            <a:r>
              <a:rPr lang="en-US" sz="2000" dirty="0"/>
              <a:t>The Problem: Cyber-attacks are caused remotely and can technically happen at any given moment, as effective as defense in depth and the triple-A principles are? They have on </a:t>
            </a:r>
            <a:r>
              <a:rPr lang="en-US" sz="2000"/>
              <a:t>occasions failed, so there's nothing that is truly a hundred percent secured.</a:t>
            </a:r>
          </a:p>
          <a:p>
            <a:pPr marL="228600" indent="-228600">
              <a:spcBef>
                <a:spcPts val="0"/>
              </a:spcBef>
              <a:buSzPts val="2000"/>
            </a:pPr>
            <a:endParaRPr lang="en-US" sz="2000" dirty="0"/>
          </a:p>
          <a:p>
            <a:pPr marL="228600" indent="-228600">
              <a:spcBef>
                <a:spcPts val="0"/>
              </a:spcBef>
              <a:buSzPts val="2000"/>
            </a:pPr>
            <a:r>
              <a:rPr lang="en-US" sz="2000" dirty="0"/>
              <a:t>The </a:t>
            </a:r>
            <a:r>
              <a:rPr lang="en-US" sz="2000"/>
              <a:t>Solution: Use Defense in Depth and Triple-A policies for signing into an application to reduce the chance of an attack.</a:t>
            </a:r>
          </a:p>
          <a:p>
            <a:pPr marL="228600" indent="-228600">
              <a:spcBef>
                <a:spcPts val="0"/>
              </a:spcBef>
              <a:buSzPts val="2000"/>
            </a:pPr>
            <a:endParaRPr lang="en-US" sz="2000" dirty="0"/>
          </a:p>
          <a:p>
            <a:pPr marL="228600" indent="-228600">
              <a:spcBef>
                <a:spcPts val="0"/>
              </a:spcBef>
              <a:buSzPts val="2000"/>
            </a:pPr>
            <a:r>
              <a:rPr lang="en-US" sz="2000" dirty="0"/>
              <a:t>This tip is beneficial because it has shown by white hat hackers that it is very hard to break into a system when you employ the defense in depth and triple-a policies. This causes headache for black hat hackers and they eventua</a:t>
            </a:r>
            <a:r>
              <a:rPr lang="en-US" sz="2000"/>
              <a:t>lly give up.</a:t>
            </a:r>
          </a:p>
          <a:p>
            <a:pPr marL="228600" indent="-228600">
              <a:spcBef>
                <a:spcPts val="0"/>
              </a:spcBef>
              <a:buSzPts val="2000"/>
            </a:pPr>
            <a:endParaRPr lang="en-US" sz="2000" dirty="0"/>
          </a:p>
          <a:p>
            <a:pPr marL="228600" indent="-228600">
              <a:spcBef>
                <a:spcPts val="0"/>
              </a:spcBef>
              <a:buSzPts val="2000"/>
            </a:pPr>
            <a:r>
              <a:rPr lang="en-US" sz="2000"/>
              <a:t>If you have data that is super sensitive? Then it's for the best you work on it at your place of residence that way it'll be only you that can physically access it. </a:t>
            </a:r>
            <a:endParaRPr lang="en-US" sz="2000"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spcBef>
                <a:spcPts val="0"/>
              </a:spcBef>
            </a:pPr>
            <a:r>
              <a:rPr lang="en-US" dirty="0"/>
              <a:t>The best way of filling in the gaps when it comes to cyber-attacks is to consistently keep up with the security threats and patterns. This is crucial to delivering the level of security that app users expect. Keep things simple and straight forward, but also take whatever measures necessary to complete the task.</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482600">
              <a:buSzPts val="2200"/>
            </a:pPr>
            <a:r>
              <a:rPr lang="en-US" dirty="0"/>
              <a:t>Bringing this to a close, with all the principles and coding practices that I've laid down in this presentation? I can say that most if not all the major topics of secure coding were addressed to build a well-rounded security policy. I also did address the zero trust when it comes to accessing certain things </a:t>
            </a:r>
            <a:r>
              <a:rPr lang="en-US"/>
              <a:t>that are inside and outside of a network, sustaining security of confidential information for everyone who is involved.</a:t>
            </a:r>
            <a:r>
              <a:rPr lang="en-US" dirty="0"/>
              <a:t> </a:t>
            </a: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477982" y="2062312"/>
            <a:ext cx="10820400" cy="4024125"/>
          </a:xfrm>
          <a:prstGeom prst="rect">
            <a:avLst/>
          </a:prstGeom>
          <a:noFill/>
          <a:ln>
            <a:noFill/>
          </a:ln>
        </p:spPr>
        <p:txBody>
          <a:bodyPr spcFirstLastPara="1" wrap="square" lIns="91425" tIns="45700" rIns="91425" bIns="45700" anchor="t" anchorCtr="0">
            <a:normAutofit/>
          </a:bodyPr>
          <a:lstStyle/>
          <a:p>
            <a:pPr marL="342900">
              <a:spcBef>
                <a:spcPts val="0"/>
              </a:spcBef>
              <a:buSzPts val="2200"/>
            </a:pPr>
            <a:r>
              <a:rPr lang="en-US" sz="900" dirty="0" err="1">
                <a:solidFill>
                  <a:srgbClr val="000000"/>
                </a:solidFill>
                <a:highlight>
                  <a:srgbClr val="F5F5F5"/>
                </a:highlight>
                <a:latin typeface="Noto Sans"/>
                <a:ea typeface="Noto Sans"/>
                <a:cs typeface="Noto Sans"/>
              </a:rPr>
              <a:t>Litvinyuk</a:t>
            </a:r>
            <a:r>
              <a:rPr lang="en-US" sz="900" dirty="0">
                <a:solidFill>
                  <a:srgbClr val="000000"/>
                </a:solidFill>
                <a:highlight>
                  <a:srgbClr val="F5F5F5"/>
                </a:highlight>
                <a:latin typeface="Noto Sans"/>
                <a:ea typeface="Noto Sans"/>
                <a:cs typeface="Noto Sans"/>
              </a:rPr>
              <a:t>, S., </a:t>
            </a:r>
            <a:r>
              <a:rPr lang="en-US" sz="900" dirty="0" err="1">
                <a:solidFill>
                  <a:srgbClr val="000000"/>
                </a:solidFill>
                <a:highlight>
                  <a:srgbClr val="F5F5F5"/>
                </a:highlight>
                <a:latin typeface="Noto Sans"/>
                <a:ea typeface="Noto Sans"/>
                <a:cs typeface="Noto Sans"/>
              </a:rPr>
              <a:t>Pilyugin</a:t>
            </a:r>
            <a:r>
              <a:rPr lang="en-US" sz="900" dirty="0">
                <a:solidFill>
                  <a:srgbClr val="000000"/>
                </a:solidFill>
                <a:highlight>
                  <a:srgbClr val="F5F5F5"/>
                </a:highlight>
                <a:latin typeface="Noto Sans"/>
                <a:ea typeface="Noto Sans"/>
                <a:cs typeface="Noto Sans"/>
              </a:rPr>
              <a:t>, P., &amp; Petukhov, A. (2024). Formal Methods For Building Network-Level Information Security Policies. </a:t>
            </a:r>
            <a:r>
              <a:rPr lang="en-US" sz="900" i="1" dirty="0">
                <a:solidFill>
                  <a:srgbClr val="000000"/>
                </a:solidFill>
                <a:highlight>
                  <a:srgbClr val="F5F5F5"/>
                </a:highlight>
                <a:latin typeface="Noto Sans"/>
                <a:ea typeface="Noto Sans"/>
                <a:cs typeface="Noto Sans"/>
              </a:rPr>
              <a:t>2024 International Scientific and Technical Conference Modern Computer Network Technologies (</a:t>
            </a:r>
            <a:r>
              <a:rPr lang="en-US" sz="900" i="1" dirty="0" err="1">
                <a:solidFill>
                  <a:srgbClr val="000000"/>
                </a:solidFill>
                <a:highlight>
                  <a:srgbClr val="F5F5F5"/>
                </a:highlight>
                <a:latin typeface="Noto Sans"/>
                <a:ea typeface="Noto Sans"/>
                <a:cs typeface="Noto Sans"/>
              </a:rPr>
              <a:t>MoNeTeC</a:t>
            </a:r>
            <a:r>
              <a:rPr lang="en-US" sz="900" i="1" dirty="0">
                <a:solidFill>
                  <a:srgbClr val="000000"/>
                </a:solidFill>
                <a:highlight>
                  <a:srgbClr val="F5F5F5"/>
                </a:highlight>
                <a:latin typeface="Noto Sans"/>
                <a:ea typeface="Noto Sans"/>
                <a:cs typeface="Noto Sans"/>
              </a:rPr>
              <a:t>), Scientific and Technical Conference Modern Computer Network Technologies (</a:t>
            </a:r>
            <a:r>
              <a:rPr lang="en-US" sz="900" i="1" dirty="0" err="1">
                <a:solidFill>
                  <a:srgbClr val="000000"/>
                </a:solidFill>
                <a:highlight>
                  <a:srgbClr val="F5F5F5"/>
                </a:highlight>
                <a:latin typeface="Noto Sans"/>
                <a:ea typeface="Noto Sans"/>
                <a:cs typeface="Noto Sans"/>
              </a:rPr>
              <a:t>MoNeTeC</a:t>
            </a:r>
            <a:r>
              <a:rPr lang="en-US" sz="900" i="1" dirty="0">
                <a:solidFill>
                  <a:srgbClr val="000000"/>
                </a:solidFill>
                <a:highlight>
                  <a:srgbClr val="F5F5F5"/>
                </a:highlight>
                <a:latin typeface="Noto Sans"/>
                <a:ea typeface="Noto Sans"/>
                <a:cs typeface="Noto Sans"/>
              </a:rPr>
              <a:t>), 2024 International</a:t>
            </a:r>
            <a:r>
              <a:rPr lang="en-US" sz="900" dirty="0">
                <a:solidFill>
                  <a:srgbClr val="000000"/>
                </a:solidFill>
                <a:highlight>
                  <a:srgbClr val="F5F5F5"/>
                </a:highlight>
                <a:latin typeface="Noto Sans"/>
                <a:ea typeface="Noto Sans"/>
                <a:cs typeface="Noto Sans"/>
              </a:rPr>
              <a:t>, 1–5. </a:t>
            </a:r>
            <a:r>
              <a:rPr lang="en-US" sz="900" dirty="0">
                <a:solidFill>
                  <a:srgbClr val="000000"/>
                </a:solidFill>
                <a:highlight>
                  <a:srgbClr val="F5F5F5"/>
                </a:highlight>
                <a:latin typeface="Noto Sans"/>
                <a:ea typeface="Noto Sans"/>
                <a:cs typeface="Noto Sans"/>
                <a:hlinkClick r:id="rId4"/>
              </a:rPr>
              <a:t>https://doi.org/10.1109/MoNeTec60984.2024.10768180</a:t>
            </a:r>
            <a:endParaRPr lang="en-US" sz="18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r>
              <a:rPr lang="en-US" sz="900" dirty="0">
                <a:solidFill>
                  <a:srgbClr val="000000"/>
                </a:solidFill>
                <a:highlight>
                  <a:srgbClr val="F5F5F5"/>
                </a:highlight>
                <a:latin typeface="Noto Sans"/>
                <a:ea typeface="Noto Sans"/>
                <a:cs typeface="Noto Sans"/>
              </a:rPr>
              <a:t>Babanov, V. (2024). Internals of defense-in-depth strategy in cybersecurity. </a:t>
            </a:r>
            <a:r>
              <a:rPr lang="en-US" sz="900" i="1" dirty="0">
                <a:solidFill>
                  <a:srgbClr val="000000"/>
                </a:solidFill>
                <a:highlight>
                  <a:srgbClr val="F5F5F5"/>
                </a:highlight>
                <a:latin typeface="Noto Sans"/>
                <a:ea typeface="Noto Sans"/>
                <a:cs typeface="Noto Sans"/>
              </a:rPr>
              <a:t>Security &amp; Defense / </a:t>
            </a:r>
            <a:r>
              <a:rPr lang="en-US" sz="900" i="1" dirty="0" err="1">
                <a:solidFill>
                  <a:srgbClr val="000000"/>
                </a:solidFill>
                <a:highlight>
                  <a:srgbClr val="F5F5F5"/>
                </a:highlight>
                <a:latin typeface="Noto Sans"/>
                <a:ea typeface="Noto Sans"/>
                <a:cs typeface="Noto Sans"/>
              </a:rPr>
              <a:t>Sigurnost</a:t>
            </a:r>
            <a:r>
              <a:rPr lang="en-US" sz="900" i="1" dirty="0">
                <a:solidFill>
                  <a:srgbClr val="000000"/>
                </a:solidFill>
                <a:highlight>
                  <a:srgbClr val="F5F5F5"/>
                </a:highlight>
                <a:latin typeface="Noto Sans"/>
                <a:ea typeface="Noto Sans"/>
                <a:cs typeface="Noto Sans"/>
              </a:rPr>
              <a:t> </a:t>
            </a:r>
            <a:r>
              <a:rPr lang="en-US" sz="900" i="1" dirty="0" err="1">
                <a:solidFill>
                  <a:srgbClr val="000000"/>
                </a:solidFill>
                <a:highlight>
                  <a:srgbClr val="F5F5F5"/>
                </a:highlight>
                <a:latin typeface="Noto Sans"/>
                <a:ea typeface="Noto Sans"/>
                <a:cs typeface="Noto Sans"/>
              </a:rPr>
              <a:t>i</a:t>
            </a:r>
            <a:r>
              <a:rPr lang="en-US" sz="900" i="1" dirty="0">
                <a:solidFill>
                  <a:srgbClr val="000000"/>
                </a:solidFill>
                <a:highlight>
                  <a:srgbClr val="F5F5F5"/>
                </a:highlight>
                <a:latin typeface="Noto Sans"/>
                <a:ea typeface="Noto Sans"/>
                <a:cs typeface="Noto Sans"/>
              </a:rPr>
              <a:t> </a:t>
            </a:r>
            <a:r>
              <a:rPr lang="en-US" sz="900" i="1" dirty="0" err="1">
                <a:solidFill>
                  <a:srgbClr val="000000"/>
                </a:solidFill>
                <a:highlight>
                  <a:srgbClr val="F5F5F5"/>
                </a:highlight>
                <a:latin typeface="Noto Sans"/>
                <a:ea typeface="Noto Sans"/>
                <a:cs typeface="Noto Sans"/>
              </a:rPr>
              <a:t>Otbrana</a:t>
            </a:r>
            <a:r>
              <a:rPr lang="en-US" sz="900" dirty="0">
                <a:solidFill>
                  <a:srgbClr val="000000"/>
                </a:solidFill>
                <a:highlight>
                  <a:srgbClr val="F5F5F5"/>
                </a:highlight>
                <a:latin typeface="Noto Sans"/>
                <a:ea typeface="Noto Sans"/>
                <a:cs typeface="Noto Sans"/>
              </a:rPr>
              <a:t>, </a:t>
            </a:r>
            <a:r>
              <a:rPr lang="en-US" sz="900" i="1" dirty="0">
                <a:solidFill>
                  <a:srgbClr val="000000"/>
                </a:solidFill>
                <a:highlight>
                  <a:srgbClr val="F5F5F5"/>
                </a:highlight>
                <a:latin typeface="Noto Sans"/>
                <a:ea typeface="Noto Sans"/>
                <a:cs typeface="Noto Sans"/>
              </a:rPr>
              <a:t>2</a:t>
            </a:r>
            <a:r>
              <a:rPr lang="en-US" sz="900" dirty="0">
                <a:solidFill>
                  <a:srgbClr val="000000"/>
                </a:solidFill>
                <a:highlight>
                  <a:srgbClr val="F5F5F5"/>
                </a:highlight>
                <a:latin typeface="Noto Sans"/>
                <a:ea typeface="Noto Sans"/>
                <a:cs typeface="Noto Sans"/>
              </a:rPr>
              <a:t>, 37–42. </a:t>
            </a:r>
            <a:r>
              <a:rPr lang="en-US" sz="900" dirty="0">
                <a:solidFill>
                  <a:srgbClr val="000000"/>
                </a:solidFill>
                <a:highlight>
                  <a:srgbClr val="F5F5F5"/>
                </a:highlight>
                <a:latin typeface="Noto Sans"/>
                <a:ea typeface="Noto Sans"/>
                <a:cs typeface="Noto Sans"/>
                <a:hlinkClick r:id="rId5"/>
              </a:rPr>
              <a:t>https://doi.org/10.70265/PNEZ3158</a:t>
            </a: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r>
              <a:rPr lang="en-US" sz="900">
                <a:solidFill>
                  <a:srgbClr val="000000"/>
                </a:solidFill>
                <a:highlight>
                  <a:srgbClr val="F5F5F5"/>
                </a:highlight>
                <a:latin typeface="Noto Sans"/>
                <a:ea typeface="Noto Sans"/>
                <a:cs typeface="Noto Sans"/>
              </a:rPr>
              <a:t>Nguyen, V. H., &amp; Nguyen, K. K. (2026). Triple-Layered Anti-Interception Security Framework for Ground Combat Vehicular Networks. </a:t>
            </a:r>
            <a:r>
              <a:rPr lang="en-US" sz="900" i="1">
                <a:solidFill>
                  <a:srgbClr val="000000"/>
                </a:solidFill>
                <a:highlight>
                  <a:srgbClr val="F5F5F5"/>
                </a:highlight>
                <a:latin typeface="Noto Sans"/>
                <a:ea typeface="Noto Sans"/>
                <a:cs typeface="Noto Sans"/>
              </a:rPr>
              <a:t>ICC 2026 - IEEE International Conference on Communications, Communications, ICC 2026 - IEEE International Conference On</a:t>
            </a:r>
            <a:r>
              <a:rPr lang="en-US" sz="900">
                <a:solidFill>
                  <a:srgbClr val="000000"/>
                </a:solidFill>
                <a:highlight>
                  <a:srgbClr val="F5F5F5"/>
                </a:highlight>
                <a:latin typeface="Noto Sans"/>
                <a:ea typeface="Noto Sans"/>
                <a:cs typeface="Noto Sans"/>
              </a:rPr>
              <a:t>, 1–6. </a:t>
            </a:r>
            <a:r>
              <a:rPr lang="en-US" sz="900" dirty="0">
                <a:solidFill>
                  <a:srgbClr val="000000"/>
                </a:solidFill>
                <a:highlight>
                  <a:srgbClr val="F5F5F5"/>
                </a:highlight>
                <a:latin typeface="Noto Sans"/>
                <a:ea typeface="Noto Sans"/>
                <a:cs typeface="Noto Sans"/>
                <a:hlinkClick r:id="rId6"/>
              </a:rPr>
              <a:t>https://doi.org/10.1109/ICC59461.2026.11588185</a:t>
            </a: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r>
              <a:rPr lang="en-US" sz="900">
                <a:solidFill>
                  <a:srgbClr val="000000"/>
                </a:solidFill>
                <a:highlight>
                  <a:srgbClr val="F5F5F5"/>
                </a:highlight>
                <a:latin typeface="Noto Sans"/>
                <a:ea typeface="Noto Sans"/>
                <a:cs typeface="Noto Sans"/>
              </a:rPr>
              <a:t>Ramirez, A., Aiello, A., &amp; Lincke, S. J. (2020). A Survey and Comparison of Secure Software Development Standards. </a:t>
            </a:r>
            <a:r>
              <a:rPr lang="en-US" sz="900" i="1">
                <a:solidFill>
                  <a:srgbClr val="000000"/>
                </a:solidFill>
                <a:highlight>
                  <a:srgbClr val="F5F5F5"/>
                </a:highlight>
                <a:latin typeface="Noto Sans"/>
                <a:ea typeface="Noto Sans"/>
                <a:cs typeface="Noto Sans"/>
              </a:rPr>
              <a:t>2020 13th CMI Conference on Cybersecurity and Privacy (CMI) - Digital Transformation - Potentials and Challenges(51275), Cybersecurity and Privacy (CMI) - Digital Transformation - Potentials and Challenges, 2020 13th CMI Conference On</a:t>
            </a:r>
            <a:r>
              <a:rPr lang="en-US" sz="900">
                <a:solidFill>
                  <a:srgbClr val="000000"/>
                </a:solidFill>
                <a:highlight>
                  <a:srgbClr val="F5F5F5"/>
                </a:highlight>
                <a:latin typeface="Noto Sans"/>
                <a:ea typeface="Noto Sans"/>
                <a:cs typeface="Noto Sans"/>
              </a:rPr>
              <a:t>, 1–6. </a:t>
            </a:r>
            <a:r>
              <a:rPr lang="en-US" sz="900" dirty="0">
                <a:solidFill>
                  <a:srgbClr val="000000"/>
                </a:solidFill>
                <a:highlight>
                  <a:srgbClr val="F5F5F5"/>
                </a:highlight>
                <a:latin typeface="Noto Sans"/>
                <a:ea typeface="Noto Sans"/>
                <a:cs typeface="Noto Sans"/>
                <a:hlinkClick r:id="rId7"/>
              </a:rPr>
              <a:t>https://doi.org/10.1109/CMI51275.2020.9322704</a:t>
            </a: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a:p>
            <a:pPr marL="342900">
              <a:spcBef>
                <a:spcPts val="0"/>
              </a:spcBef>
              <a:buSzPts val="2200"/>
            </a:pPr>
            <a:endParaRPr lang="en-US" sz="900" dirty="0">
              <a:solidFill>
                <a:srgbClr val="000000"/>
              </a:solidFill>
              <a:highlight>
                <a:srgbClr val="F5F5F5"/>
              </a:highlight>
              <a:latin typeface="Noto Sans"/>
              <a:ea typeface="Noto Sans"/>
              <a:cs typeface="Noto Sans"/>
            </a:endParaRPr>
          </a:p>
        </p:txBody>
      </p:sp>
      <p:pic>
        <p:nvPicPr>
          <p:cNvPr id="239" name="Google Shape;239;p14" descr="Green Pace logo"/>
          <p:cNvPicPr preferRelativeResize="0"/>
          <p:nvPr/>
        </p:nvPicPr>
        <p:blipFill>
          <a:blip r:embed="rId8">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TotalTime>
  <Words>352</Words>
  <Application>Microsoft Office PowerPoint</Application>
  <PresentationFormat>Widescreen</PresentationFormat>
  <Paragraphs>39</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Ankita Koli</cp:lastModifiedBy>
  <cp:revision>688</cp:revision>
  <dcterms:created xsi:type="dcterms:W3CDTF">2020-08-19T17:59:24Z</dcterms:created>
  <dcterms:modified xsi:type="dcterms:W3CDTF">2026-10-19T03:05:08Z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